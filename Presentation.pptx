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A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3192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B04368-F9D8-4407-BD79-706AF512CE4A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F54E3-D1DB-4FC2-8D5F-1AB48CC1B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773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EF54E3-D1DB-4FC2-8D5F-1AB48CC1B85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749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46867C2-2510-4FF7-994F-982EC1D4F9BE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841A51A3-FE32-4A24-B9C2-BBC8FC296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259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867C2-2510-4FF7-994F-982EC1D4F9BE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A51A3-FE32-4A24-B9C2-BBC8FC296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488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867C2-2510-4FF7-994F-982EC1D4F9BE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A51A3-FE32-4A24-B9C2-BBC8FC296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379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867C2-2510-4FF7-994F-982EC1D4F9BE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A51A3-FE32-4A24-B9C2-BBC8FC296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595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867C2-2510-4FF7-994F-982EC1D4F9BE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A51A3-FE32-4A24-B9C2-BBC8FC296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747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867C2-2510-4FF7-994F-982EC1D4F9BE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A51A3-FE32-4A24-B9C2-BBC8FC296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8854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867C2-2510-4FF7-994F-982EC1D4F9BE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A51A3-FE32-4A24-B9C2-BBC8FC296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082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867C2-2510-4FF7-994F-982EC1D4F9BE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A51A3-FE32-4A24-B9C2-BBC8FC296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45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867C2-2510-4FF7-994F-982EC1D4F9BE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A51A3-FE32-4A24-B9C2-BBC8FC296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788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867C2-2510-4FF7-994F-982EC1D4F9BE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A51A3-FE32-4A24-B9C2-BBC8FC296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621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867C2-2510-4FF7-994F-982EC1D4F9BE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A51A3-FE32-4A24-B9C2-BBC8FC296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8614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867C2-2510-4FF7-994F-982EC1D4F9BE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A51A3-FE32-4A24-B9C2-BBC8FC296A21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07169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867C2-2510-4FF7-994F-982EC1D4F9BE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A51A3-FE32-4A24-B9C2-BBC8FC296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628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867C2-2510-4FF7-994F-982EC1D4F9BE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A51A3-FE32-4A24-B9C2-BBC8FC296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4754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867C2-2510-4FF7-994F-982EC1D4F9BE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A51A3-FE32-4A24-B9C2-BBC8FC296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2500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867C2-2510-4FF7-994F-982EC1D4F9BE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A51A3-FE32-4A24-B9C2-BBC8FC296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7476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867C2-2510-4FF7-994F-982EC1D4F9BE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A51A3-FE32-4A24-B9C2-BBC8FC296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8551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867C2-2510-4FF7-994F-982EC1D4F9BE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1A51A3-FE32-4A24-B9C2-BBC8FC296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6898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tsmodels.org/" TargetMode="External"/><Relationship Id="rId2" Type="http://schemas.openxmlformats.org/officeDocument/2006/relationships/hyperlink" Target="https://www.kaggle.com/dataset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FA281-2112-5A09-C3B7-868103E08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2737" y="2148631"/>
            <a:ext cx="8473806" cy="128036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Smarter Commerce: Data-Driven Insights &amp; Predictive Modeling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2DC179-A0F5-1CE8-9700-6EF9CEBD76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00917" y="3766006"/>
            <a:ext cx="3774333" cy="492277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Amazon | </a:t>
            </a:r>
            <a:r>
              <a:rPr lang="en-IN" b="1" dirty="0" err="1">
                <a:solidFill>
                  <a:schemeClr val="bg1"/>
                </a:solidFill>
              </a:rPr>
              <a:t>Meesho</a:t>
            </a:r>
            <a:r>
              <a:rPr lang="en-IN" b="1" dirty="0">
                <a:solidFill>
                  <a:schemeClr val="bg1"/>
                </a:solidFill>
              </a:rPr>
              <a:t>| Flipkart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1900FF-A89E-7F30-2237-A7AD1F17D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624" y="4230752"/>
            <a:ext cx="2037232" cy="15279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EE7692-B387-C8FD-C085-674EC22537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096" y="4230752"/>
            <a:ext cx="1476375" cy="14763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251C00-96BB-5D64-245F-1EA6EAF432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0996" y="4457836"/>
            <a:ext cx="1133475" cy="110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474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B38A4-9597-0EF6-D9DA-17919721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70843"/>
            <a:ext cx="4554538" cy="705457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PROBLEM STATEMENT: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A37A1-48E0-EA5B-637A-2CE5A9E62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8725" y="876299"/>
            <a:ext cx="10039350" cy="5810858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2800" b="1" i="1" dirty="0">
                <a:solidFill>
                  <a:schemeClr val="bg1"/>
                </a:solidFill>
              </a:rPr>
              <a:t>Why eCommerce Needs Data Intelligence ?</a:t>
            </a:r>
          </a:p>
          <a:p>
            <a:pPr>
              <a:buNone/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1. Data Overload, Insights Deficit</a:t>
            </a:r>
            <a:br>
              <a:rPr lang="en-US" dirty="0"/>
            </a:br>
            <a:r>
              <a:rPr lang="en-US" dirty="0"/>
              <a:t>Modern eCommerce platforms generate massive volumes of data (sales, traffic, reviews, returns), but most of it goes unanalyzed—leading to missed business opportunities.</a:t>
            </a:r>
          </a:p>
          <a:p>
            <a:pPr>
              <a:buNone/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2. Dynamic Customer Behavior</a:t>
            </a:r>
            <a:br>
              <a:rPr lang="en-US" dirty="0"/>
            </a:br>
            <a:r>
              <a:rPr lang="en-US" dirty="0"/>
              <a:t>Customers switch preferences fast. Without data intelligence, brands struggle to keep up with trending products, pricing sensitivity, and seasonal shifts.</a:t>
            </a:r>
          </a:p>
          <a:p>
            <a:pPr>
              <a:buNone/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3. Fierce Competition</a:t>
            </a:r>
            <a:br>
              <a:rPr lang="en-US" dirty="0"/>
            </a:br>
            <a:r>
              <a:rPr lang="en-US" dirty="0"/>
              <a:t>With multiple platforms (Amazon, </a:t>
            </a:r>
            <a:r>
              <a:rPr lang="en-US" dirty="0" err="1"/>
              <a:t>Meesho</a:t>
            </a:r>
            <a:r>
              <a:rPr lang="en-US" dirty="0"/>
              <a:t>, Flipkart) vying for market share, businesses need data-driven strategies to stand out.</a:t>
            </a:r>
          </a:p>
          <a:p>
            <a:pPr>
              <a:buNone/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4. Forecasting Challenges</a:t>
            </a:r>
            <a:br>
              <a:rPr lang="en-US" dirty="0"/>
            </a:br>
            <a:r>
              <a:rPr lang="en-US" dirty="0"/>
              <a:t>Inaccurate demand forecasting can lead to overstocking, understocking, or poor resource allocation—directly impacting profitability.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</a:rPr>
              <a:t>5. Lack of Platform Comparability</a:t>
            </a:r>
            <a:br>
              <a:rPr lang="en-US" dirty="0"/>
            </a:br>
            <a:r>
              <a:rPr lang="en-US" dirty="0"/>
              <a:t>Without integrated analysis across platforms, businesses can’t identify which marketplace yields the best ROI, product category performance, or pricing advantage.</a:t>
            </a:r>
          </a:p>
          <a:p>
            <a:pPr marL="0" indent="0">
              <a:buNone/>
            </a:pP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9166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1AFCA-DBC8-CFA7-1E96-FB4C36FA4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0"/>
            <a:ext cx="3411537" cy="734032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PROJECT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4B4CB-CAA0-D208-DDD0-7FC13F388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8725" y="647700"/>
            <a:ext cx="9818686" cy="59817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b="1" i="1" dirty="0">
                <a:solidFill>
                  <a:schemeClr val="bg1"/>
                </a:solidFill>
              </a:rPr>
              <a:t>Our Objectives:</a:t>
            </a:r>
          </a:p>
          <a:p>
            <a:pPr>
              <a:buNone/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1. Build an Interactive Analytics Dashboard</a:t>
            </a:r>
            <a:br>
              <a:rPr lang="en-US" dirty="0"/>
            </a:br>
            <a:r>
              <a:rPr lang="en-US" dirty="0"/>
              <a:t>To visualize key metrics like sales trends, product performance, customer ratings, and platform comparisons in real-time.</a:t>
            </a:r>
          </a:p>
          <a:p>
            <a:pPr>
              <a:buNone/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2. Compare Performance Across Platforms</a:t>
            </a:r>
            <a:br>
              <a:rPr lang="en-US" dirty="0"/>
            </a:br>
            <a:r>
              <a:rPr lang="en-US" dirty="0"/>
              <a:t>To analyze and contrast Amazon, </a:t>
            </a:r>
            <a:r>
              <a:rPr lang="en-US" dirty="0" err="1"/>
              <a:t>Meesho</a:t>
            </a:r>
            <a:r>
              <a:rPr lang="en-US" dirty="0"/>
              <a:t>, and Flipkart on pricing, ratings, categories, and customer behavior.</a:t>
            </a:r>
          </a:p>
          <a:p>
            <a:pPr>
              <a:buNone/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3. Develop Predictive Models</a:t>
            </a:r>
            <a:br>
              <a:rPr lang="en-US" dirty="0"/>
            </a:br>
            <a:r>
              <a:rPr lang="en-US" dirty="0"/>
              <a:t>To forecast future sales and customer demand using machine learning techniques (e.g., </a:t>
            </a:r>
            <a:r>
              <a:rPr lang="en-US" dirty="0" err="1"/>
              <a:t>XGBoost</a:t>
            </a:r>
            <a:r>
              <a:rPr lang="en-US" dirty="0"/>
              <a:t>, ARIMA).</a:t>
            </a:r>
          </a:p>
          <a:p>
            <a:pPr>
              <a:buNone/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4. Uncover Actionable Insights</a:t>
            </a:r>
            <a:br>
              <a:rPr lang="en-US" dirty="0"/>
            </a:br>
            <a:r>
              <a:rPr lang="en-US" dirty="0"/>
              <a:t>To identify trends, opportunities, and anomalies that can inform business strategy and drive growth.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5. Enhance Decision-Making with Data</a:t>
            </a:r>
            <a:br>
              <a:rPr lang="en-US" dirty="0"/>
            </a:br>
            <a:r>
              <a:rPr lang="en-US" dirty="0"/>
              <a:t>To enable data-backed decisions for inventory planning, marketing, and platform optimization.</a:t>
            </a:r>
          </a:p>
          <a:p>
            <a:pPr marL="0" indent="0">
              <a:buNone/>
            </a:pP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3809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FAB70-043F-A59C-BC93-0521173EC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3" y="132743"/>
            <a:ext cx="4325937" cy="657832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Datasets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71407-590E-3359-4117-8A3B17B2F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3813" y="790575"/>
            <a:ext cx="4221162" cy="569595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Amazon Dataset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Source: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/>
              <a:t>Kaggle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Contents:</a:t>
            </a:r>
            <a:endParaRPr lang="en-US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Product listings (name, category, subcategory)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Prices and discounts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Customer ratings and reviews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Availability and delivery information</a:t>
            </a:r>
          </a:p>
          <a:p>
            <a:pPr>
              <a:buNone/>
            </a:pPr>
            <a:r>
              <a:rPr lang="en-US" b="1" dirty="0" err="1">
                <a:solidFill>
                  <a:schemeClr val="bg2">
                    <a:lumMod val="75000"/>
                  </a:schemeClr>
                </a:solidFill>
              </a:rPr>
              <a:t>Meesho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Source: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/>
              <a:t>Kaggle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Contents:</a:t>
            </a:r>
            <a:endParaRPr lang="en-US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Product titles and descriptions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Price and discounted price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Rating distribution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Product categories (fashion, home, electronics)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EC604E-DFA4-9B55-1A85-810BB1B9A438}"/>
              </a:ext>
            </a:extLst>
          </p:cNvPr>
          <p:cNvSpPr txBox="1"/>
          <p:nvPr/>
        </p:nvSpPr>
        <p:spPr>
          <a:xfrm>
            <a:off x="6096000" y="790575"/>
            <a:ext cx="505530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Flipkart Dataset</a:t>
            </a:r>
          </a:p>
          <a:p>
            <a:pPr>
              <a:buNone/>
            </a:pPr>
            <a:endParaRPr lang="en-US" b="1" dirty="0">
              <a:solidFill>
                <a:schemeClr val="bg2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Source: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/>
              <a:t>Kaggle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Contents:</a:t>
            </a:r>
            <a:endParaRPr lang="en-US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Product names and brand info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Original vs. discounted prices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Customer ratings and review counts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Category and subcategory classification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8781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FD9C5-AF07-68CE-BA4E-C9E599206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3" y="0"/>
            <a:ext cx="6992937" cy="648307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Data Transformation Pipeline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EFE77-1A81-265A-4490-BD34A6D44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0962" y="648307"/>
            <a:ext cx="9905999" cy="5914418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1. Missing Value Handling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Imputed missing prices, ratings, and review counts using mean, median, or nearest-neighbor techniques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Removed entries with critical missing identifiers (e.g., product name)</a:t>
            </a:r>
          </a:p>
          <a:p>
            <a:pPr>
              <a:buNone/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2. Data Normalization &amp; Standardization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Scaled numeric fields (prices, ratings) to a common range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Converted currencies and formatted text fields uniformly</a:t>
            </a:r>
          </a:p>
          <a:p>
            <a:pPr>
              <a:buNone/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3. Duplicate &amp; Irrelevant Data Removal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Identified and removed duplicate products based on title and SKU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Filtered out irrelevant or non-eCommerce entries (ads, placeholders)</a:t>
            </a:r>
          </a:p>
          <a:p>
            <a:pPr>
              <a:buNone/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4. Category &amp; Text Cleaning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Standardized category names across platforms for comparison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Removed HTML tags, emojis, and special characters from text fields</a:t>
            </a:r>
          </a:p>
          <a:p>
            <a:pPr>
              <a:buNone/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5. Feature Engineering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Extracted new features: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Price gap</a:t>
            </a:r>
            <a:r>
              <a:rPr lang="en-US" dirty="0"/>
              <a:t> = Original Price - Discounted Price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Review score bins</a:t>
            </a:r>
            <a:r>
              <a:rPr lang="en-US" dirty="0"/>
              <a:t> = Low, Medium, High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Platform tag</a:t>
            </a:r>
            <a:r>
              <a:rPr lang="en-US" dirty="0"/>
              <a:t> = Amazon / </a:t>
            </a:r>
            <a:r>
              <a:rPr lang="en-US" dirty="0" err="1"/>
              <a:t>Meesho</a:t>
            </a:r>
            <a:r>
              <a:rPr lang="en-US" dirty="0"/>
              <a:t> / Flipkart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6836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B14A0-882E-5E4B-1639-0DEB21690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04168"/>
            <a:ext cx="7945437" cy="610207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Interactive Dashboard Highlights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134CE-5490-BE32-1D90-3E77353A1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589" y="639762"/>
            <a:ext cx="9905999" cy="14081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Our custom-built dashboard empowers users to explore and compare key eCommerce metrics across Amazon, </a:t>
            </a:r>
            <a:r>
              <a:rPr lang="en-US" dirty="0" err="1"/>
              <a:t>Meesho</a:t>
            </a:r>
            <a:r>
              <a:rPr lang="en-US" dirty="0"/>
              <a:t>, and Flipkart through dynamic visualizations.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0350B8-DD81-356B-55D2-B71B98BE46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12" y="2083604"/>
            <a:ext cx="9793287" cy="4021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147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93A05-6262-A8A8-8A0B-1EEEAB6E1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73E62-A6AB-AE9F-E8DD-AEC06C9E1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2055EB-5702-FCDC-ADAD-B4FCE7A9C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776" y="618518"/>
            <a:ext cx="9905998" cy="585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806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338-575C-F201-CA21-DDA985520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32743"/>
            <a:ext cx="4954587" cy="610207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Predictive </a:t>
            </a:r>
            <a:r>
              <a:rPr lang="en-IN" b="1" dirty="0" err="1">
                <a:solidFill>
                  <a:schemeClr val="bg1"/>
                </a:solidFill>
              </a:rPr>
              <a:t>Modeling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8F4D8-FEE1-5B53-5F38-919839F60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4763" y="742949"/>
            <a:ext cx="7069138" cy="5915025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Models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XGBoost</a:t>
            </a:r>
            <a:r>
              <a:rPr lang="en-US" b="1" dirty="0"/>
              <a:t> Regressor</a:t>
            </a:r>
            <a:br>
              <a:rPr lang="en-US" dirty="0"/>
            </a:br>
            <a:r>
              <a:rPr lang="en-US" dirty="0"/>
              <a:t>For high-performance price and sales volume prediction using structured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ARIMA (</a:t>
            </a:r>
            <a:r>
              <a:rPr lang="en-US" b="1" dirty="0" err="1"/>
              <a:t>AutoRegressive</a:t>
            </a:r>
            <a:r>
              <a:rPr lang="en-US" b="1" dirty="0"/>
              <a:t> Integrated Moving Average)</a:t>
            </a:r>
            <a:br>
              <a:rPr lang="en-US" dirty="0"/>
            </a:br>
            <a:r>
              <a:rPr lang="en-US" dirty="0"/>
              <a:t>For time series forecasting of daily/weekly sales trends.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Random Forest &amp; Decision Trees</a:t>
            </a:r>
            <a:br>
              <a:rPr lang="en-US" dirty="0"/>
            </a:br>
            <a:r>
              <a:rPr lang="en-US" dirty="0"/>
              <a:t>For feature importance analysis and interpretable predictions.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Feature Inputs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Product price &amp; discount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Category &amp; subcategory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Rating, review count, and sentiment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Platform identifier (Amazon, </a:t>
            </a:r>
            <a:r>
              <a:rPr lang="en-US" dirty="0" err="1"/>
              <a:t>Meesho</a:t>
            </a:r>
            <a:r>
              <a:rPr lang="en-US" dirty="0"/>
              <a:t>, Flipkart)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Historical sales data (where available)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Evaluation Metrics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MAE (Mean Absolute Error)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RMSE (Root Mean Square Error)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R² Score</a:t>
            </a:r>
            <a:br>
              <a:rPr lang="en-US" dirty="0"/>
            </a:br>
            <a:r>
              <a:rPr lang="en-US" dirty="0"/>
              <a:t>Used to evaluate the accuracy and robustness of our predictive models.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A88461-130F-A445-9BD2-895E0AAD163E}"/>
              </a:ext>
            </a:extLst>
          </p:cNvPr>
          <p:cNvSpPr txBox="1"/>
          <p:nvPr/>
        </p:nvSpPr>
        <p:spPr>
          <a:xfrm>
            <a:off x="5333693" y="2827081"/>
            <a:ext cx="65806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Key Findings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Pricing and ratings are strong predictors of sales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Meesho</a:t>
            </a:r>
            <a:r>
              <a:rPr lang="en-US" dirty="0"/>
              <a:t> categories show higher price elasticity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Seasonal patterns significantly influence demand across all platforms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6331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96536-9321-AB06-E437-A456A098C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8088" y="104168"/>
            <a:ext cx="4802187" cy="648307"/>
          </a:xfrm>
        </p:spPr>
        <p:txBody>
          <a:bodyPr/>
          <a:lstStyle/>
          <a:p>
            <a:r>
              <a:rPr lang="en-IN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What We Discovered</a:t>
            </a:r>
            <a:endParaRPr lang="en-IN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6D49F-27D8-D668-A7B3-FB5A225A8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2387" y="668337"/>
            <a:ext cx="9905999" cy="548481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dirty="0"/>
              <a:t>Our analysis uncovered critical insights that highlight platform-specific strengths, consumer trends, and growth opportunities:</a:t>
            </a:r>
          </a:p>
          <a:p>
            <a:pPr>
              <a:buNone/>
            </a:pPr>
            <a:r>
              <a:rPr lang="en-US" sz="1400" b="1" dirty="0">
                <a:solidFill>
                  <a:schemeClr val="bg2">
                    <a:lumMod val="75000"/>
                  </a:schemeClr>
                </a:solidFill>
              </a:rPr>
              <a:t>Platform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Amazon</a:t>
            </a:r>
            <a:r>
              <a:rPr lang="en-US" sz="1400" dirty="0"/>
              <a:t> leads in customer satisfaction, with the highest average rating and review volume.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 err="1"/>
              <a:t>Meesho</a:t>
            </a:r>
            <a:r>
              <a:rPr lang="en-US" sz="1400" dirty="0"/>
              <a:t> excels in budget-friendly categories, especially fashion and home essentials.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Flipkart</a:t>
            </a:r>
            <a:r>
              <a:rPr lang="en-US" sz="1400" dirty="0"/>
              <a:t> offers the most aggressive discounts in electronics and accessories.</a:t>
            </a:r>
          </a:p>
          <a:p>
            <a:pPr>
              <a:buNone/>
            </a:pPr>
            <a:r>
              <a:rPr lang="en-US" sz="1400" b="1" dirty="0">
                <a:solidFill>
                  <a:schemeClr val="bg2">
                    <a:lumMod val="75000"/>
                  </a:schemeClr>
                </a:solidFill>
              </a:rPr>
              <a:t>Category Trends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Fashion and Electronics</a:t>
            </a:r>
            <a:r>
              <a:rPr lang="en-US" sz="1400" dirty="0"/>
              <a:t> consistently rank as top-selling categories across all platforms.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Products in the </a:t>
            </a:r>
            <a:r>
              <a:rPr lang="en-US" sz="1400" b="1" dirty="0"/>
              <a:t>Home &amp; Kitchen</a:t>
            </a:r>
            <a:r>
              <a:rPr lang="en-US" sz="1400" dirty="0"/>
              <a:t> category show higher average customer ratings.</a:t>
            </a:r>
          </a:p>
          <a:p>
            <a:pPr>
              <a:buNone/>
            </a:pPr>
            <a:r>
              <a:rPr lang="en-US" sz="1400" b="1" dirty="0">
                <a:solidFill>
                  <a:srgbClr val="002060"/>
                </a:solidFill>
              </a:rPr>
              <a:t>Customer Behavior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Products with </a:t>
            </a:r>
            <a:r>
              <a:rPr lang="en-US" sz="1400" b="1" dirty="0"/>
              <a:t>ratings above 4.0</a:t>
            </a:r>
            <a:r>
              <a:rPr lang="en-US" sz="1400" dirty="0"/>
              <a:t> and </a:t>
            </a:r>
            <a:r>
              <a:rPr lang="en-US" sz="1400" b="1" dirty="0"/>
              <a:t>more than 100 reviews</a:t>
            </a:r>
            <a:r>
              <a:rPr lang="en-US" sz="1400" dirty="0"/>
              <a:t> are significantly more likely to convert.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Visual-heavy listings (e.g., better images, clearer descriptions) correlate with higher engagement</a:t>
            </a:r>
          </a:p>
          <a:p>
            <a:pPr>
              <a:buNone/>
            </a:pPr>
            <a:r>
              <a:rPr lang="en-US" sz="1400" b="1" dirty="0">
                <a:solidFill>
                  <a:schemeClr val="bg2">
                    <a:lumMod val="75000"/>
                  </a:schemeClr>
                </a:solidFill>
              </a:rPr>
              <a:t>Price vs. Sales Correlation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Lower-priced items</a:t>
            </a:r>
            <a:r>
              <a:rPr lang="en-US" sz="1400" dirty="0"/>
              <a:t> with high ratings perform best on </a:t>
            </a:r>
            <a:r>
              <a:rPr lang="en-US" sz="1400" dirty="0" err="1"/>
              <a:t>Meesho</a:t>
            </a:r>
            <a:r>
              <a:rPr lang="en-US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On Amazon, </a:t>
            </a:r>
            <a:r>
              <a:rPr lang="en-US" sz="1400" b="1" dirty="0"/>
              <a:t>moderately priced items</a:t>
            </a:r>
            <a:r>
              <a:rPr lang="en-US" sz="1400" dirty="0"/>
              <a:t> with premium branding perform better.</a:t>
            </a:r>
          </a:p>
          <a:p>
            <a:pPr>
              <a:buNone/>
            </a:pPr>
            <a:r>
              <a:rPr lang="en-US" sz="1400" b="1" dirty="0">
                <a:solidFill>
                  <a:schemeClr val="bg2">
                    <a:lumMod val="75000"/>
                  </a:schemeClr>
                </a:solidFill>
              </a:rPr>
              <a:t>Predictive Modeling Impact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Forecasts suggest an </a:t>
            </a:r>
            <a:r>
              <a:rPr lang="en-US" sz="1400" b="1" dirty="0"/>
              <a:t>uptick in seasonal demand</a:t>
            </a:r>
            <a:r>
              <a:rPr lang="en-US" sz="1400" dirty="0"/>
              <a:t> for fashion and mobile accessories during sale periods.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Our model predicts a </a:t>
            </a:r>
            <a:r>
              <a:rPr lang="en-US" sz="1400" b="1" dirty="0"/>
              <a:t>15–25% sales increase</a:t>
            </a:r>
            <a:r>
              <a:rPr lang="en-US" sz="1400" dirty="0"/>
              <a:t> for high-rated, discounted items over the next quarter.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0" indent="0">
              <a:buNone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688196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3B164-7348-9E03-6225-500C52C5B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8088" y="0"/>
            <a:ext cx="3944937" cy="70545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Hurdles We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01CFF-9F8B-97B4-E925-4CFD4D3D8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437" y="715589"/>
            <a:ext cx="9905999" cy="567629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During our project, we encountered several technical and analytical challenges that shaped how we handled the data and built our models:</a:t>
            </a:r>
          </a:p>
          <a:p>
            <a:pPr>
              <a:buNone/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Inconsistent Data Formats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dataset had different structures, naming conventions, and units.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Required significant standardization for cross-platform comparison.</a:t>
            </a:r>
          </a:p>
          <a:p>
            <a:pPr>
              <a:buNone/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Missing &amp; Noisy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Many records lacked key information like ratings, reviews, or prices.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Text fields had inconsistent formatting, spelling errors, and unnecessary symbols.</a:t>
            </a:r>
          </a:p>
          <a:p>
            <a:pPr>
              <a:buNone/>
            </a:pPr>
            <a:r>
              <a:rPr lang="en-IN" b="1" dirty="0">
                <a:solidFill>
                  <a:schemeClr val="bg2">
                    <a:lumMod val="75000"/>
                  </a:schemeClr>
                </a:solidFill>
              </a:rPr>
              <a:t>Unaligned Product Categories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Categories varied widely between Amazon, </a:t>
            </a:r>
            <a:r>
              <a:rPr lang="en-IN" dirty="0" err="1"/>
              <a:t>Meesho</a:t>
            </a:r>
            <a:r>
              <a:rPr lang="en-IN" dirty="0"/>
              <a:t>, and Flipkart (e.g., "Mobile Accessories" vs. "Smartphone Gadgets").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Required manual and programmatic mapping for uniform analysis.</a:t>
            </a:r>
          </a:p>
          <a:p>
            <a:pPr>
              <a:buNone/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Lack of Real-Time Sales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Static datasets limited our ability to validate trends over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Hindered temporal forecasting beyond a certain point.</a:t>
            </a:r>
          </a:p>
          <a:p>
            <a:pPr>
              <a:buNone/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Model Generalization Issues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Models performed differently across platforms due to varied data volume and quality.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Required fine-tuning for each platform to avoid overfitting.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7914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21839-88A7-36FA-9ACE-B669AE170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187" y="161923"/>
            <a:ext cx="7621587" cy="676277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PROJECT OUTCOMES AND FUTURE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C3620-CF1B-CB42-7A91-2E90E77F1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6187" y="838199"/>
            <a:ext cx="9905999" cy="5857877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Project Outcomes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Built an interactive dashboard to compare Amazon, </a:t>
            </a:r>
            <a:r>
              <a:rPr lang="en-US" dirty="0" err="1"/>
              <a:t>Meesho</a:t>
            </a:r>
            <a:r>
              <a:rPr lang="en-US" dirty="0"/>
              <a:t>, and Flipkart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Developed accurate sales forecasting models using real-world eCommerce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Uncovered platform-specific insights to guide pricing and category strategy</a:t>
            </a: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Future Work</a:t>
            </a:r>
          </a:p>
          <a:p>
            <a:pPr>
              <a:buNone/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1. Expand Platform Coverage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Integrate more marketplaces like </a:t>
            </a:r>
            <a:r>
              <a:rPr lang="en-US" b="1" dirty="0"/>
              <a:t>Myntra</a:t>
            </a:r>
            <a:r>
              <a:rPr lang="en-US" dirty="0"/>
              <a:t>, </a:t>
            </a:r>
            <a:r>
              <a:rPr lang="en-US" b="1" dirty="0" err="1"/>
              <a:t>Nykaa</a:t>
            </a:r>
            <a:r>
              <a:rPr lang="en-US" dirty="0"/>
              <a:t>, and </a:t>
            </a:r>
            <a:r>
              <a:rPr lang="en-US" b="1" dirty="0" err="1"/>
              <a:t>JioMart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 broader industry comparisons</a:t>
            </a:r>
          </a:p>
          <a:p>
            <a:pPr>
              <a:buNone/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2. Real-Time Data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Shift from static Kaggle datasets to </a:t>
            </a:r>
            <a:r>
              <a:rPr lang="en-US" b="1" dirty="0"/>
              <a:t>live API feeds</a:t>
            </a:r>
            <a:r>
              <a:rPr lang="en-US" dirty="0"/>
              <a:t> for dynamic analysis and forecasting</a:t>
            </a:r>
          </a:p>
          <a:p>
            <a:pPr>
              <a:buNone/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3. Advanced Customer Segmentation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clustering and deep learning to group users based on behavior and preferences</a:t>
            </a:r>
          </a:p>
          <a:p>
            <a:pPr>
              <a:buNone/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4. Recommendation Engine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Suggest products based on rating, price sensitivity, and previous purchases using collaborative filtering</a:t>
            </a:r>
          </a:p>
          <a:p>
            <a:pPr>
              <a:buNone/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5. Deploy Dashboard as a SaaS Tool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Make the dashboard accessible to small businesses for self-service eCommerce analytics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6516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621A-CA76-1201-C62C-6D6453B76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338" y="94643"/>
            <a:ext cx="2687637" cy="743557"/>
          </a:xfrm>
        </p:spPr>
        <p:txBody>
          <a:bodyPr/>
          <a:lstStyle/>
          <a:p>
            <a:r>
              <a:rPr lang="en-IN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FD7AE1-2EA3-407D-D5F2-40887F0E5D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03338" y="838200"/>
            <a:ext cx="9755187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Kaggle Datasets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Amazon Product Data: https://www.kaggle.com/datasets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Meesho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Product Listings: https://www.kaggle.com/datasets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Flipkart Product Data: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https://www.kaggle.com/datasets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Libraries &amp; Tools Used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Scikit-learn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Seaborn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ARIMA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(from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statsmodels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(for dashboard)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Inspiration &amp; Documentation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Scikit-learn Documentation: [https://scikit-learn.org/stable/]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Docs (if used): [https://docs.streamlit.io</a:t>
            </a:r>
            <a:r>
              <a:rPr lang="en-US" altLang="en-US" sz="1800" dirty="0">
                <a:latin typeface="Arial" panose="020B0604020202020204" pitchFamily="34" charset="0"/>
              </a:rPr>
              <a:t>]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ARIMA Tutorial –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StatsModels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[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https://www.statsmodels.org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5857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59</TotalTime>
  <Words>1303</Words>
  <Application>Microsoft Office PowerPoint</Application>
  <PresentationFormat>Widescreen</PresentationFormat>
  <Paragraphs>160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Unicode MS</vt:lpstr>
      <vt:lpstr>Calibri</vt:lpstr>
      <vt:lpstr>Tw Cen MT</vt:lpstr>
      <vt:lpstr>Circuit</vt:lpstr>
      <vt:lpstr>Smarter Commerce: Data-Driven Insights &amp; Predictive Modeling</vt:lpstr>
      <vt:lpstr>PROBLEM STATEMENT:</vt:lpstr>
      <vt:lpstr>PROJECT GOALS</vt:lpstr>
      <vt:lpstr>Datasets Overview</vt:lpstr>
      <vt:lpstr>Data Transformation Pipeline</vt:lpstr>
      <vt:lpstr>Interactive Dashboard Highlights</vt:lpstr>
      <vt:lpstr>PowerPoint Presentation</vt:lpstr>
      <vt:lpstr>Predictive Modeling</vt:lpstr>
      <vt:lpstr>What We Discovered</vt:lpstr>
      <vt:lpstr>Hurdles We Faced</vt:lpstr>
      <vt:lpstr>PROJECT OUTCOMES AND FUTURE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Shiryansh  Dixit</dc:creator>
  <cp:lastModifiedBy>Shiryansh  Dixit</cp:lastModifiedBy>
  <cp:revision>1</cp:revision>
  <dcterms:created xsi:type="dcterms:W3CDTF">2025-04-30T11:31:51Z</dcterms:created>
  <dcterms:modified xsi:type="dcterms:W3CDTF">2025-04-30T12:31:32Z</dcterms:modified>
</cp:coreProperties>
</file>